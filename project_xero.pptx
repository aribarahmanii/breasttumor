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ba rahmani" userId="5891eaf643c6501c" providerId="LiveId" clId="{4E56C0EF-274E-4492-A7A0-12EEAF825371}"/>
    <pc:docChg chg="custSel delSld modSld">
      <pc:chgData name="ariba rahmani" userId="5891eaf643c6501c" providerId="LiveId" clId="{4E56C0EF-274E-4492-A7A0-12EEAF825371}" dt="2026-07-31T05:37:20.089" v="124" actId="20577"/>
      <pc:docMkLst>
        <pc:docMk/>
      </pc:docMkLst>
      <pc:sldChg chg="delSp modSp mod">
        <pc:chgData name="ariba rahmani" userId="5891eaf643c6501c" providerId="LiveId" clId="{4E56C0EF-274E-4492-A7A0-12EEAF825371}" dt="2026-07-31T05:37:20.089" v="124" actId="20577"/>
        <pc:sldMkLst>
          <pc:docMk/>
          <pc:sldMk cId="0" sldId="256"/>
        </pc:sldMkLst>
        <pc:spChg chg="del">
          <ac:chgData name="ariba rahmani" userId="5891eaf643c6501c" providerId="LiveId" clId="{4E56C0EF-274E-4492-A7A0-12EEAF825371}" dt="2026-07-30T09:39:21.844" v="0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ariba rahmani" userId="5891eaf643c6501c" providerId="LiveId" clId="{4E56C0EF-274E-4492-A7A0-12EEAF825371}" dt="2026-07-30T09:39:34.980" v="6" actId="20577"/>
          <ac:spMkLst>
            <pc:docMk/>
            <pc:sldMk cId="0" sldId="256"/>
            <ac:spMk id="3" creationId="{00000000-0000-0000-0000-000000000000}"/>
          </ac:spMkLst>
        </pc:spChg>
        <pc:spChg chg="del">
          <ac:chgData name="ariba rahmani" userId="5891eaf643c6501c" providerId="LiveId" clId="{4E56C0EF-274E-4492-A7A0-12EEAF825371}" dt="2026-07-30T09:39:28.797" v="4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ariba rahmani" userId="5891eaf643c6501c" providerId="LiveId" clId="{4E56C0EF-274E-4492-A7A0-12EEAF825371}" dt="2026-07-30T09:39:30.912" v="5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ariba rahmani" userId="5891eaf643c6501c" providerId="LiveId" clId="{4E56C0EF-274E-4492-A7A0-12EEAF825371}" dt="2026-07-30T09:39:26.971" v="3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ariba rahmani" userId="5891eaf643c6501c" providerId="LiveId" clId="{4E56C0EF-274E-4492-A7A0-12EEAF825371}" dt="2026-07-30T09:39:25.033" v="2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ariba rahmani" userId="5891eaf643c6501c" providerId="LiveId" clId="{4E56C0EF-274E-4492-A7A0-12EEAF825371}" dt="2026-07-31T05:37:20.089" v="124" actId="20577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ariba rahmani" userId="5891eaf643c6501c" providerId="LiveId" clId="{4E56C0EF-274E-4492-A7A0-12EEAF825371}" dt="2026-07-30T10:08:50.391" v="80" actId="21"/>
        <pc:sldMkLst>
          <pc:docMk/>
          <pc:sldMk cId="0" sldId="257"/>
        </pc:sldMkLst>
        <pc:spChg chg="mod">
          <ac:chgData name="ariba rahmani" userId="5891eaf643c6501c" providerId="LiveId" clId="{4E56C0EF-274E-4492-A7A0-12EEAF825371}" dt="2026-07-30T09:40:04.117" v="30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ariba rahmani" userId="5891eaf643c6501c" providerId="LiveId" clId="{4E56C0EF-274E-4492-A7A0-12EEAF825371}" dt="2026-07-30T10:08:33.804" v="78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riba rahmani" userId="5891eaf643c6501c" providerId="LiveId" clId="{4E56C0EF-274E-4492-A7A0-12EEAF825371}" dt="2026-07-30T10:08:40.097" v="79" actId="1036"/>
          <ac:spMkLst>
            <pc:docMk/>
            <pc:sldMk cId="0" sldId="257"/>
            <ac:spMk id="19" creationId="{00000000-0000-0000-0000-000000000000}"/>
          </ac:spMkLst>
        </pc:spChg>
        <pc:spChg chg="del">
          <ac:chgData name="ariba rahmani" userId="5891eaf643c6501c" providerId="LiveId" clId="{4E56C0EF-274E-4492-A7A0-12EEAF825371}" dt="2026-07-30T10:08:50.391" v="80" actId="21"/>
          <ac:spMkLst>
            <pc:docMk/>
            <pc:sldMk cId="0" sldId="257"/>
            <ac:spMk id="32" creationId="{00000000-0000-0000-0000-000000000000}"/>
          </ac:spMkLst>
        </pc:spChg>
      </pc:sldChg>
      <pc:sldChg chg="delSp modSp mod">
        <pc:chgData name="ariba rahmani" userId="5891eaf643c6501c" providerId="LiveId" clId="{4E56C0EF-274E-4492-A7A0-12EEAF825371}" dt="2026-07-30T10:08:57.437" v="81" actId="21"/>
        <pc:sldMkLst>
          <pc:docMk/>
          <pc:sldMk cId="0" sldId="258"/>
        </pc:sldMkLst>
        <pc:spChg chg="mod">
          <ac:chgData name="ariba rahmani" userId="5891eaf643c6501c" providerId="LiveId" clId="{4E56C0EF-274E-4492-A7A0-12EEAF825371}" dt="2026-07-30T09:40:23.390" v="63" actId="20577"/>
          <ac:spMkLst>
            <pc:docMk/>
            <pc:sldMk cId="0" sldId="258"/>
            <ac:spMk id="3" creationId="{00000000-0000-0000-0000-000000000000}"/>
          </ac:spMkLst>
        </pc:spChg>
        <pc:spChg chg="del">
          <ac:chgData name="ariba rahmani" userId="5891eaf643c6501c" providerId="LiveId" clId="{4E56C0EF-274E-4492-A7A0-12EEAF825371}" dt="2026-07-30T10:08:57.437" v="81" actId="21"/>
          <ac:spMkLst>
            <pc:docMk/>
            <pc:sldMk cId="0" sldId="258"/>
            <ac:spMk id="22" creationId="{00000000-0000-0000-0000-000000000000}"/>
          </ac:spMkLst>
        </pc:spChg>
      </pc:sldChg>
      <pc:sldChg chg="delSp mod">
        <pc:chgData name="ariba rahmani" userId="5891eaf643c6501c" providerId="LiveId" clId="{4E56C0EF-274E-4492-A7A0-12EEAF825371}" dt="2026-07-30T10:09:08.692" v="82" actId="21"/>
        <pc:sldMkLst>
          <pc:docMk/>
          <pc:sldMk cId="0" sldId="259"/>
        </pc:sldMkLst>
        <pc:spChg chg="del">
          <ac:chgData name="ariba rahmani" userId="5891eaf643c6501c" providerId="LiveId" clId="{4E56C0EF-274E-4492-A7A0-12EEAF825371}" dt="2026-07-30T10:09:08.692" v="82" actId="21"/>
          <ac:spMkLst>
            <pc:docMk/>
            <pc:sldMk cId="0" sldId="259"/>
            <ac:spMk id="28" creationId="{00000000-0000-0000-0000-000000000000}"/>
          </ac:spMkLst>
        </pc:spChg>
      </pc:sldChg>
      <pc:sldChg chg="delSp mod">
        <pc:chgData name="ariba rahmani" userId="5891eaf643c6501c" providerId="LiveId" clId="{4E56C0EF-274E-4492-A7A0-12EEAF825371}" dt="2026-07-30T10:09:15.494" v="83" actId="478"/>
        <pc:sldMkLst>
          <pc:docMk/>
          <pc:sldMk cId="0" sldId="260"/>
        </pc:sldMkLst>
        <pc:spChg chg="del">
          <ac:chgData name="ariba rahmani" userId="5891eaf643c6501c" providerId="LiveId" clId="{4E56C0EF-274E-4492-A7A0-12EEAF825371}" dt="2026-07-30T10:09:15.494" v="83" actId="478"/>
          <ac:spMkLst>
            <pc:docMk/>
            <pc:sldMk cId="0" sldId="260"/>
            <ac:spMk id="4" creationId="{00000000-0000-0000-0000-000000000000}"/>
          </ac:spMkLst>
        </pc:spChg>
      </pc:sldChg>
      <pc:sldChg chg="delSp mod">
        <pc:chgData name="ariba rahmani" userId="5891eaf643c6501c" providerId="LiveId" clId="{4E56C0EF-274E-4492-A7A0-12EEAF825371}" dt="2026-07-30T10:09:29.095" v="86" actId="478"/>
        <pc:sldMkLst>
          <pc:docMk/>
          <pc:sldMk cId="0" sldId="262"/>
        </pc:sldMkLst>
        <pc:spChg chg="del">
          <ac:chgData name="ariba rahmani" userId="5891eaf643c6501c" providerId="LiveId" clId="{4E56C0EF-274E-4492-A7A0-12EEAF825371}" dt="2026-07-30T10:09:29.095" v="86" actId="478"/>
          <ac:spMkLst>
            <pc:docMk/>
            <pc:sldMk cId="0" sldId="262"/>
            <ac:spMk id="5" creationId="{00000000-0000-0000-0000-000000000000}"/>
          </ac:spMkLst>
        </pc:spChg>
      </pc:sldChg>
      <pc:sldChg chg="delSp mod">
        <pc:chgData name="ariba rahmani" userId="5891eaf643c6501c" providerId="LiveId" clId="{4E56C0EF-274E-4492-A7A0-12EEAF825371}" dt="2026-07-30T10:09:32.870" v="87" actId="478"/>
        <pc:sldMkLst>
          <pc:docMk/>
          <pc:sldMk cId="0" sldId="263"/>
        </pc:sldMkLst>
        <pc:spChg chg="del">
          <ac:chgData name="ariba rahmani" userId="5891eaf643c6501c" providerId="LiveId" clId="{4E56C0EF-274E-4492-A7A0-12EEAF825371}" dt="2026-07-30T10:09:32.870" v="87" actId="478"/>
          <ac:spMkLst>
            <pc:docMk/>
            <pc:sldMk cId="0" sldId="263"/>
            <ac:spMk id="5" creationId="{00000000-0000-0000-0000-000000000000}"/>
          </ac:spMkLst>
        </pc:spChg>
      </pc:sldChg>
      <pc:sldChg chg="delSp modSp mod">
        <pc:chgData name="ariba rahmani" userId="5891eaf643c6501c" providerId="LiveId" clId="{4E56C0EF-274E-4492-A7A0-12EEAF825371}" dt="2026-07-30T10:09:25.776" v="85" actId="478"/>
        <pc:sldMkLst>
          <pc:docMk/>
          <pc:sldMk cId="0" sldId="264"/>
        </pc:sldMkLst>
        <pc:spChg chg="del mod">
          <ac:chgData name="ariba rahmani" userId="5891eaf643c6501c" providerId="LiveId" clId="{4E56C0EF-274E-4492-A7A0-12EEAF825371}" dt="2026-07-30T10:09:25.776" v="85" actId="478"/>
          <ac:spMkLst>
            <pc:docMk/>
            <pc:sldMk cId="0" sldId="264"/>
            <ac:spMk id="5" creationId="{00000000-0000-0000-0000-000000000000}"/>
          </ac:spMkLst>
        </pc:spChg>
      </pc:sldChg>
      <pc:sldChg chg="delSp mod">
        <pc:chgData name="ariba rahmani" userId="5891eaf643c6501c" providerId="LiveId" clId="{4E56C0EF-274E-4492-A7A0-12EEAF825371}" dt="2026-07-30T10:09:43.987" v="88" actId="478"/>
        <pc:sldMkLst>
          <pc:docMk/>
          <pc:sldMk cId="0" sldId="265"/>
        </pc:sldMkLst>
        <pc:spChg chg="del">
          <ac:chgData name="ariba rahmani" userId="5891eaf643c6501c" providerId="LiveId" clId="{4E56C0EF-274E-4492-A7A0-12EEAF825371}" dt="2026-07-30T10:09:43.987" v="88" actId="478"/>
          <ac:spMkLst>
            <pc:docMk/>
            <pc:sldMk cId="0" sldId="265"/>
            <ac:spMk id="29" creationId="{00000000-0000-0000-0000-000000000000}"/>
          </ac:spMkLst>
        </pc:spChg>
      </pc:sldChg>
      <pc:sldChg chg="delSp del mod">
        <pc:chgData name="ariba rahmani" userId="5891eaf643c6501c" providerId="LiveId" clId="{4E56C0EF-274E-4492-A7A0-12EEAF825371}" dt="2026-07-30T10:10:09.213" v="92" actId="2696"/>
        <pc:sldMkLst>
          <pc:docMk/>
          <pc:sldMk cId="0" sldId="266"/>
        </pc:sldMkLst>
        <pc:spChg chg="del">
          <ac:chgData name="ariba rahmani" userId="5891eaf643c6501c" providerId="LiveId" clId="{4E56C0EF-274E-4492-A7A0-12EEAF825371}" dt="2026-07-30T10:09:48.668" v="89" actId="478"/>
          <ac:spMkLst>
            <pc:docMk/>
            <pc:sldMk cId="0" sldId="266"/>
            <ac:spMk id="22" creationId="{00000000-0000-0000-0000-000000000000}"/>
          </ac:spMkLst>
        </pc:spChg>
      </pc:sldChg>
      <pc:sldChg chg="delSp modSp mod">
        <pc:chgData name="ariba rahmani" userId="5891eaf643c6501c" providerId="LiveId" clId="{4E56C0EF-274E-4492-A7A0-12EEAF825371}" dt="2026-07-30T10:10:36.023" v="99" actId="478"/>
        <pc:sldMkLst>
          <pc:docMk/>
          <pc:sldMk cId="0" sldId="267"/>
        </pc:sldMkLst>
        <pc:spChg chg="mod">
          <ac:chgData name="ariba rahmani" userId="5891eaf643c6501c" providerId="LiveId" clId="{4E56C0EF-274E-4492-A7A0-12EEAF825371}" dt="2026-07-30T10:10:16.364" v="93" actId="6549"/>
          <ac:spMkLst>
            <pc:docMk/>
            <pc:sldMk cId="0" sldId="267"/>
            <ac:spMk id="3" creationId="{00000000-0000-0000-0000-000000000000}"/>
          </ac:spMkLst>
        </pc:spChg>
        <pc:spChg chg="del">
          <ac:chgData name="ariba rahmani" userId="5891eaf643c6501c" providerId="LiveId" clId="{4E56C0EF-274E-4492-A7A0-12EEAF825371}" dt="2026-07-30T10:10:26.050" v="95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ariba rahmani" userId="5891eaf643c6501c" providerId="LiveId" clId="{4E56C0EF-274E-4492-A7A0-12EEAF825371}" dt="2026-07-30T10:10:22.694" v="94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ariba rahmani" userId="5891eaf643c6501c" providerId="LiveId" clId="{4E56C0EF-274E-4492-A7A0-12EEAF825371}" dt="2026-07-30T10:10:29.978" v="96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ariba rahmani" userId="5891eaf643c6501c" providerId="LiveId" clId="{4E56C0EF-274E-4492-A7A0-12EEAF825371}" dt="2026-07-30T10:10:32.307" v="97" actId="478"/>
          <ac:spMkLst>
            <pc:docMk/>
            <pc:sldMk cId="0" sldId="267"/>
            <ac:spMk id="18" creationId="{00000000-0000-0000-0000-000000000000}"/>
          </ac:spMkLst>
        </pc:spChg>
        <pc:spChg chg="del">
          <ac:chgData name="ariba rahmani" userId="5891eaf643c6501c" providerId="LiveId" clId="{4E56C0EF-274E-4492-A7A0-12EEAF825371}" dt="2026-07-30T10:10:34.300" v="98" actId="478"/>
          <ac:spMkLst>
            <pc:docMk/>
            <pc:sldMk cId="0" sldId="267"/>
            <ac:spMk id="22" creationId="{00000000-0000-0000-0000-000000000000}"/>
          </ac:spMkLst>
        </pc:spChg>
        <pc:spChg chg="del">
          <ac:chgData name="ariba rahmani" userId="5891eaf643c6501c" providerId="LiveId" clId="{4E56C0EF-274E-4492-A7A0-12EEAF825371}" dt="2026-07-30T10:10:36.023" v="99" actId="478"/>
          <ac:spMkLst>
            <pc:docMk/>
            <pc:sldMk cId="0" sldId="267"/>
            <ac:spMk id="26" creationId="{00000000-0000-0000-0000-000000000000}"/>
          </ac:spMkLst>
        </pc:spChg>
        <pc:spChg chg="del">
          <ac:chgData name="ariba rahmani" userId="5891eaf643c6501c" providerId="LiveId" clId="{4E56C0EF-274E-4492-A7A0-12EEAF825371}" dt="2026-07-30T10:09:53.814" v="90" actId="478"/>
          <ac:spMkLst>
            <pc:docMk/>
            <pc:sldMk cId="0" sldId="267"/>
            <ac:spMk id="28" creationId="{00000000-0000-0000-0000-000000000000}"/>
          </ac:spMkLst>
        </pc:spChg>
      </pc:sldChg>
      <pc:sldChg chg="delSp mod">
        <pc:chgData name="ariba rahmani" userId="5891eaf643c6501c" providerId="LiveId" clId="{4E56C0EF-274E-4492-A7A0-12EEAF825371}" dt="2026-07-30T10:10:04.728" v="91" actId="478"/>
        <pc:sldMkLst>
          <pc:docMk/>
          <pc:sldMk cId="0" sldId="269"/>
        </pc:sldMkLst>
        <pc:spChg chg="del">
          <ac:chgData name="ariba rahmani" userId="5891eaf643c6501c" providerId="LiveId" clId="{4E56C0EF-274E-4492-A7A0-12EEAF825371}" dt="2026-07-30T10:10:04.728" v="91" actId="478"/>
          <ac:spMkLst>
            <pc:docMk/>
            <pc:sldMk cId="0" sldId="269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8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640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87000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6404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Image Segmentation using Deep Learning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disease focus — Lung Cancer · Breast Cancer · Brain Tumor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5669280" cy="182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51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 Rahmani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6360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46360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25MSCSCPY0016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02005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502005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Computer Science (Data Analytics)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4041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540410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Year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7881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57881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Jayalakshmi S.L.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</a:rPr>
              <a:t>Intro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image segmentation, and why deep learning, for medical imaging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point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926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disease domains under consideration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03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landscape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methods surveyed and where each applies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54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038531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papers studied for each disease option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1600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1874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the three options against each other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26517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pipeline &amp; stack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2926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methodology and technology to be used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7033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703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3657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49440" y="3977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Finalizing the disease focus with the guide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Image Segmentation?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81912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isolates the diseased region (tumor, nodule, mass) from surrounding tissue — a necessary preprocessing step before reliable diagnosis or measurement.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066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42032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delineation by radiologists is time-consuming and varies between observers; deep learning models (U-Net and its variants) now match expert-level accuracy on several public benchmarks.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667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02152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lung, breast, and brain imaging, segmentation quality directly affects downstream tasks such as classification, staging, and treatment planning.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6268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62272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segmentation model, wrapped in a simple web interface, gives the project both a research contribution and a demonstrable application.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291840" cy="4023360"/>
          </a:xfrm>
          <a:prstGeom prst="roundRect">
            <a:avLst>
              <a:gd name="adj" fmla="val 3333"/>
            </a:avLst>
          </a:prstGeom>
          <a:solidFill>
            <a:srgbClr val="EAF5F4"/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0" y="20116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09760" y="33375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3337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09760" y="46634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509760" y="4663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5577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Point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disease domains for the segmentation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AF5F4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 Cancer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Imaging: Chest CT / Chest X-ray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datasets: LIDC-IDRI, LUNA16, JSRT, ANODE09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251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technique coverage of the three options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recent benchmarks (&gt;97% in some studies)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69164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AF5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9202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9476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2697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Imaging: Mammogram / Ultrasound / MRI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3474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datasets: breast ultrasound sets, mammogram archives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4251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studied with CNN + Unet3+/Res-UNet approaches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5029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transformer/instance-segmentation studies so far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69164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AF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8275320" y="19202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06840" y="19476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Tumor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75320" y="2697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Imaging: MRI (T1/T2/FLAIR)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3474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dataset: BRATS (2013 onward), Figshare BTF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4251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technique coverage, incl. transformer-based models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5029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report accuracy figures varying widely by method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Methods Apply Where?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approaches, and which disease each has been used for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3931921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(thresholding, clustering, contours)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 thresholding, K-Means, Active Contour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(U-Net family)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U-Net, Attention U-Net, nnU-Net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R-CNN, YOLACT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Panoptic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Panoptic FPN, Panoptic-DeepLab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TransUNet, Swin-UNet, MedSAM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Weakly-supervised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Grad-CAM, Multiple Instance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7150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</a:t>
            </a: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and brain imaging have been studied with almost every approach here, while breast imaging is well covered for traditional/semantic/instance methods but has fewer transformer and panoptic examples so far.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Brain Tumor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 studied for MRI-based brain tumor segmentation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4572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/ 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Tumor Segmentation with Deep Neural Networks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BRATS 2013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DNN; CNN (InputCascadeCNN)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— Complete 0.88, Core 0.79, Enhancing 0.73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based semantic segmentation for automatic brain tumor 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BRATS 2013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CNN-based; Improved Multipath GoogLeNet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99.7%, sensitivity 100%, specificity 99.7%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Tumor Analysis Empowered with Deep Learning: A Review, Taxonomy &amp; Future Challenges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(no single dataset)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FCN+CRF, U-Net variants, cascaded/3D CNNs, GANs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— no single accuracy figure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Segmentation for MR Brain Tumor Detection Using Machine Learning: A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BraTS 2012–2020 (review)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Thresholding, region/contour-based, ML &amp; CNN methods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— no single accuracy figure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tumor detection and segmentation using deep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Tumor Figshare (BTF)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U-Net (pixel-wise) + YOLOv5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 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 Rahmani  |  25MSCSCPY0016  |  M.Sc. CS (DA)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Breast Cancer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 studied for mammogram / ultrasound / MRI segmentation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365992" cy="4572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/ 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Advances in Breast Cancer Segmentation: A Comprehensive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Classical, ML &amp; manual segmentation reviewed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specific — comprehensive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Cancer Segmentation Methods: Current Status and Future Potentials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Mammogram studies, 1999–2021 (review)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Classical, ML &amp; deep learning segmentation reviewed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accuracy — review of CAD pipelines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Breast Cancer Pathological Image 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dataset (review)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Region- &amp; boundary-based segmentation; CNN classifier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specified for this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 Breast Cancer Detection &amp; Diagnosis via Semantic Segmentation (Unet3+)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 patients (151 benign, 158 malignant) ultrasound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Unet3+ segmentation; CNN classifier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82.53% avg. accuracy; 90.99% global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learning-based automatic segmentation for size/volumetric measurement of breast cancer on MRI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MRI, 1,000 breast cancer patients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Res-UNet segmentation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 0.89; T-stage accuracy 0.93; ICC &gt;0.95 (diameters)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Lung Cancer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 studied for CT / chest X-ray segmentation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0451592" cy="457200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/ 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of lung CT images based on SegNet in the diagnosis of lung cancer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patients (120 early-stage cancer + 120 benign nodules)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SegNet-based segmentation &amp; classification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92.50%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Extensive Review on Lung Cancer Detection Using Machine Learning Techniques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LIDC-IDRI, JSRT, ANODE09 (review)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 features; SVM &amp; ANN classifiers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~88.5% (ensemble); ~58–85% range (individual)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Cancer Classification Using Modified U-Net Based Lobe Segmentation &amp; Nodule 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U-Net (lobe/nodule); AlexNet + SVM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97.98%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Quality Assurance of OAR Contouring for Lung Cancer via Deep Active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Atlas (36) + NRG/RTOG 1308 (110 cases)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CNN-based segmentation with deep active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 0.95–0.97 across organs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Cross-modality (CT-MRI) prior augmented deep learning for lung tumor segmentation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MRI scans (28 pts) + 377 CT scans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Cross-modality CT→pseudo-MRI; U-Net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 = 0.75 ± 0.12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algorithm for lung cancer detection on chest radiographs using segmentation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629 training / 151 test radiographs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+ pixel-level classification; CNN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0.73; mFPI 0.13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the three disease options against each other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4480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Cancer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Cancer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Tumor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dataset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LIDC-IDRI, LUNA16, JSRT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ultrasound/mammogram sets, smaller cohorts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BRATS is a standard, well-used 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coverage surveyed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/ 31 techniques applicable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/ 31 techniques applicable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31 techniques applicable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best 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/ Modified U-Net +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Unet3+, Res-UNet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variants, transformer-based (TransUNet, UNETR)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accuracy seen in literature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~88–98% depending on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~82–91% (ultrasound), strong DSC on MRI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range; some studies &gt;99% (task-dependent)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Notable consideration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mature, most competitive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transformer/panoptic studies so far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volumetric data adds modeling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Project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methodology — applicable once the disease is finalized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14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3063240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public dataset for the chosen disease (e.g. LUNA16, BRATS, or ultrasound set)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60320" y="320040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7480" y="237744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2514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07208" y="3063240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352044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Resizing, normalization, noise reduction, augmentation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92040" y="237744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514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01768" y="3063240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Model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0" y="352044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U-Net / Attention U-Net (or similar) to isolate the diseased region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49440" y="320040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86600" y="237744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2514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96328" y="3063240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23760" y="352044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with Dice score, IoU, and other standard segmentation metrics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0" y="320040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281160" y="237744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2514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90888" y="3063240"/>
            <a:ext cx="1837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18320" y="352044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trained model in a Flask web app with an upload-and-view interface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5120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stays the same across all three options — only the dataset, preprocessing details, and clinical validation step change.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Work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057400" y="17373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finalization &amp; detailed literature survey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057400" y="24688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&amp; preprocessing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057400" y="32004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model development &amp; training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057400" y="3931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model refinement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057400" y="46634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development &amp; integration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949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057400" y="53949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 &amp; final viva preparation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disease domain should we finalize?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E4145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25603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 Cancer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technique coverage &amp; dataset access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2860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E4145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0" y="25603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41148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Well-studied, but narrower method coverage so far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E4145"/>
          </a:solidFill>
          <a:ln/>
        </p:spPr>
      </p:sp>
      <p:sp>
        <p:nvSpPr>
          <p:cNvPr id="15" name="Shape 13"/>
          <p:cNvSpPr/>
          <p:nvPr/>
        </p:nvSpPr>
        <p:spPr>
          <a:xfrm>
            <a:off x="9098280" y="25603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Tumor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92440" y="41148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benchmark (BRATS), higher modeling complexity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input requested to finalize the direction before proceeding to detailed proposal work.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sources from the technique &amp; literature survey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Ronneberger, O., Fischer, P., &amp; Brox, T. (2015). U-Net: Convolutional Networks for Biomedical Image Segmentation. MICCAI.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Zhou, Z. et al. (2018). UNet++: A Nested U-Net Architecture for Medical Image Segmentation. DLMIA Workshop, MICCAI.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Oktay, O. et al. (2018). Attention U-Net: Learning Where to Look for the Pancreas. MIDL.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J. et al. (2021). TransUNet: Transformers Make Strong Encoders for Medical Image Segmentation. arXiv:2102.04306.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J. et al. (2024). Segment Anything in Medical Images. Nature Communications, 15, 654.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Selvaraju, R. R. et al. (2017). Grad-CAM: Visual Explanations from Deep Networks. ICCV.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35040" y="164592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Havaei, M. et al. (2017). Brain Tumor Segmentation with Deep Neural Networks. Medical Image Analysis.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Byra, M. et al. (2023). Improving Breast Cancer Detection via Semantic Segmentation Using Unet3+.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Isensee, F. et al. (2021). nnU-Net: A Self-Configuring Method for Deep Learning-Based Biomedical Image Segmentation. Nature Methods, 18, 203–211.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Milletari, F., Navab, N., &amp; Ahmadi, S. A. (2016). V-Net: Fully Convolutional Networks for Volumetric Medical Image Segmentation. 3DV.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Setio, A. A. A. et al. — LUNA16 Challenge dataset documentation.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Menze, B. H. et al. — BRATS Benchmark dataset documentation.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2876" y="14630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722876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82996" y="14630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682996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43116" y="14630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643116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28346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and guidance on finalizing the topic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 Rahmani  |  25MSCSCPY0016  |  Guide: Dr. Jayalakshmi S.L.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1789</Words>
  <Application>Microsoft Office PowerPoint</Application>
  <PresentationFormat>Widescreen</PresentationFormat>
  <Paragraphs>323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ariba rahmani</cp:lastModifiedBy>
  <cp:revision>3</cp:revision>
  <dcterms:created xsi:type="dcterms:W3CDTF">2026-07-30T09:34:33Z</dcterms:created>
  <dcterms:modified xsi:type="dcterms:W3CDTF">2026-08-01T21:14:50Z</dcterms:modified>
</cp:coreProperties>
</file>